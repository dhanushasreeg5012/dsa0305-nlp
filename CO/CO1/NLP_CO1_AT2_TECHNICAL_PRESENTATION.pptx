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9" r:id="rId3"/>
    <p:sldId id="257" r:id="rId4"/>
    <p:sldId id="277" r:id="rId6"/>
    <p:sldId id="258" r:id="rId7"/>
    <p:sldId id="259" r:id="rId8"/>
    <p:sldId id="272" r:id="rId9"/>
    <p:sldId id="260" r:id="rId10"/>
    <p:sldId id="261" r:id="rId11"/>
    <p:sldId id="274" r:id="rId12"/>
    <p:sldId id="262" r:id="rId13"/>
    <p:sldId id="27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0761" y="1290040"/>
            <a:ext cx="7702478" cy="146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5"/>
              </a:lnSpc>
              <a:spcBef>
                <a:spcPct val="0"/>
              </a:spcBef>
            </a:pPr>
            <a:r>
              <a:rPr lang="en-US" altLang="en-US" sz="2510" dirty="0">
                <a:solidFill>
                  <a:srgbClr val="005FC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Comparative Analysis of Inflectional and Derivational Morphology</a:t>
            </a:r>
            <a:endParaRPr lang="en-US" altLang="en-US" sz="2510" dirty="0">
              <a:solidFill>
                <a:srgbClr val="005FC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4323" y="3356699"/>
            <a:ext cx="2659738" cy="134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PRESENTED BY :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G.DHANUSHA SREE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(192325012)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36394" y="700371"/>
            <a:ext cx="6630651" cy="52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5"/>
              </a:lnSpc>
              <a:spcBef>
                <a:spcPct val="0"/>
              </a:spcBef>
            </a:pPr>
            <a:r>
              <a:rPr lang="en-US" sz="178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DSA0305 - NATURAL LANGUAGE PROCESSING</a:t>
            </a:r>
            <a:endParaRPr lang="en-US" sz="178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49253" y="3356699"/>
            <a:ext cx="2232747" cy="134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GUIDE BY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DR.ANBAZHAGAN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SIMATS Engineering 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pic>
        <p:nvPicPr>
          <p:cNvPr id="7" name="Picture 6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" y="54661"/>
            <a:ext cx="791982" cy="104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606" y="66634"/>
            <a:ext cx="845894" cy="84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Morphology?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518285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4" name="Text 2"/>
          <p:cNvSpPr/>
          <p:nvPr/>
        </p:nvSpPr>
        <p:spPr>
          <a:xfrm>
            <a:off x="457200" y="151828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42695" y="14401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3C7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Morphology </a:t>
            </a:r>
            <a:r>
              <a:rPr lang="en-US" sz="2000" dirty="0">
                <a:solidFill>
                  <a:srgbClr val="5B5F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is the study of how words are built and how they change form.</a:t>
            </a:r>
            <a:endParaRPr lang="en-US" sz="2000" dirty="0">
              <a:solidFill>
                <a:srgbClr val="5B5F6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5315" y="3048635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word is made of smaller pieces called </a:t>
            </a:r>
            <a:r>
              <a:rPr lang="en-US" sz="20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morphemes</a:t>
            </a:r>
            <a:r>
              <a:rPr lang="en-US" sz="2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the smallest units of meaning in a language.</a:t>
            </a:r>
            <a:endParaRPr lang="en-US" sz="2000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017520" cy="2651760"/>
          </a:xfrm>
          <a:prstGeom prst="roundRect">
            <a:avLst>
              <a:gd name="adj" fmla="val 4138"/>
            </a:avLst>
          </a:prstGeom>
          <a:solidFill>
            <a:srgbClr val="FFF3EE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280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Break Down a Word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</a:t>
            </a:r>
            <a:r>
              <a:rPr lang="en-US" sz="26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happi</a:t>
            </a:r>
            <a:r>
              <a:rPr lang="en-US" sz="26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ness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  +  root  +  suffix</a:t>
            </a:r>
            <a:endParaRPr lang="en-US" sz="1400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root carries the core meaning. Prefixes and suffixes attach to it to build new words or forms.</a:t>
            </a:r>
            <a:endParaRPr lang="en-US" sz="1400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Morphemes: The Computational Unit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Morphemes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 alone as words. Carry the core lexical meaning (the root/stem/base).</a:t>
            </a:r>
            <a:endParaRPr lang="en-US" sz="14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6289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e.g.  cat,  play,  kind,  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946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 Morphemes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368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stand alone; must attach to a stem. Includes both inflectional and derivational affixes.</a:t>
            </a:r>
            <a:endParaRPr lang="en-US" sz="14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4069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e.g.  -s,  -ed,  -ness,  un-</a:t>
            </a:r>
            <a:endParaRPr lang="en-US" sz="1400" b="1" dirty="0">
              <a:solidFill>
                <a:srgbClr val="E4572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Parse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unhappiness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83480" y="24688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un- + happi + -ness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8803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PREFIX(deriv.) + ROOT + SUFFIX(deriv.)</a:t>
            </a:r>
            <a:endParaRPr lang="en-US" sz="1400" i="1" dirty="0">
              <a:solidFill>
                <a:srgbClr val="9AA6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83480" y="3337560"/>
            <a:ext cx="324612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474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3886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 + -s   →   ROOT + SUFFIX(infl.)</a:t>
            </a:r>
            <a:endParaRPr lang="en-US" sz="1400" i="1" dirty="0">
              <a:solidFill>
                <a:srgbClr val="9AA6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Branches of Morphology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affix we add to a word does one of two jobs: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2F3C7E"/>
          </a:solidFill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6" name="Text 4"/>
          <p:cNvSpPr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Changes a word's GRAMMAR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33756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Same word, same word class
•  Shows tense, number, or degree
•  Never creates a new word
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cat → cats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96167"/>
          </a:solidFill>
        </p:spPr>
      </p:sp>
      <p:sp>
        <p:nvSpPr>
          <p:cNvPr id="11" name="Shape 9"/>
          <p:cNvSpPr/>
          <p:nvPr/>
        </p:nvSpPr>
        <p:spPr>
          <a:xfrm>
            <a:off x="5074920" y="1737360"/>
            <a:ext cx="594360" cy="594360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2" name="Text 10"/>
          <p:cNvSpPr/>
          <p:nvPr/>
        </p:nvSpPr>
        <p:spPr>
          <a:xfrm>
            <a:off x="50749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 NEW 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606040"/>
            <a:ext cx="333756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 brand-new word appears
•  Often changes the word class
•  Meaning shifts, sometimes a lot
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kind → kindness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F3C7E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Morphology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“Same word — different grammatical job”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inflectional morpheme is an affix added to a word to express a </a:t>
            </a: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grammatical feature</a:t>
            </a: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like 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tense, number, person, or degree of comparison </a:t>
            </a: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US" dirty="0">
                <a:solidFill>
                  <a:srgbClr val="5B5F6B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changing </a:t>
            </a: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word's</a:t>
            </a:r>
            <a:r>
              <a:rPr lang="en-US" dirty="0">
                <a:solidFill>
                  <a:srgbClr val="5B5F6B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basic meaning </a:t>
            </a: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its part of speech.</a:t>
            </a:r>
            <a:endParaRPr lang="en-US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→ books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42032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33472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 → walked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26864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18304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tall → taller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11696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03136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→ goes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Paradigms Across Languages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566160"/>
                <a:gridCol w="173736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Lemma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Inflected Forms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 Encoded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English</a:t>
                      </a:r>
                      <a:endParaRPr lang="en-US" sz="1600" b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</a:t>
                      </a:r>
                      <a:endParaRPr lang="en-US" sz="1600" dirty="0">
                        <a:solidFill>
                          <a:srgbClr val="1E2761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walk, walks, walked, walking</a:t>
                      </a:r>
                      <a:endParaRPr lang="en-US" sz="1400" dirty="0">
                        <a:solidFill>
                          <a:srgbClr val="0E7C7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tense / person / aspect</a:t>
                      </a:r>
                      <a:endParaRPr lang="en-US" sz="1400" i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Spanish</a:t>
                      </a:r>
                      <a:endParaRPr lang="en-US" sz="1600" b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hablar</a:t>
                      </a:r>
                      <a:endParaRPr lang="en-US" sz="1600" dirty="0">
                        <a:solidFill>
                          <a:srgbClr val="1E2761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hablo, hablas, habló, hablará</a:t>
                      </a:r>
                      <a:endParaRPr lang="en-US" sz="1400" dirty="0">
                        <a:solidFill>
                          <a:srgbClr val="0E7C7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tense / person / number</a:t>
                      </a:r>
                      <a:endParaRPr lang="en-US" sz="1400" i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Russian</a:t>
                      </a:r>
                      <a:endParaRPr lang="en-US" sz="1600" b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книга (book)</a:t>
                      </a:r>
                      <a:endParaRPr lang="en-US" sz="1600" dirty="0">
                        <a:solidFill>
                          <a:srgbClr val="1E2761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книга, книги, книге, книгу</a:t>
                      </a:r>
                      <a:endParaRPr lang="en-US" sz="1400" dirty="0">
                        <a:solidFill>
                          <a:srgbClr val="0E7C7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case / number</a:t>
                      </a:r>
                      <a:endParaRPr lang="en-US" sz="1400" i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Turkish</a:t>
                      </a:r>
                      <a:endParaRPr lang="en-US" sz="1600" b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 (house)</a:t>
                      </a:r>
                      <a:endParaRPr lang="en-US" sz="1600" dirty="0">
                        <a:solidFill>
                          <a:srgbClr val="1E2761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evler, evde, evlerde, evimde</a:t>
                      </a:r>
                      <a:endParaRPr lang="en-US" sz="1400" dirty="0">
                        <a:solidFill>
                          <a:srgbClr val="0E7C7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case / number / possession (agglutinative)</a:t>
                      </a:r>
                      <a:endParaRPr lang="en-US" sz="1400" i="1" dirty="0">
                        <a:solidFill>
                          <a:srgbClr val="515A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Morphology — Examples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097280"/>
          <a:ext cx="822960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 Word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Inflected Form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Shows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cats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Plural number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walked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Past tense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Progressive aspect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tall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taller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Comparative degree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biggest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Superlative degree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she</a:t>
                      </a:r>
                      <a:endParaRPr lang="en-US" sz="1800" dirty="0">
                        <a:solidFill>
                          <a:srgbClr val="5B5F6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sings</a:t>
                      </a:r>
                      <a:endParaRPr lang="en-US" sz="1800" b="1" dirty="0">
                        <a:solidFill>
                          <a:srgbClr val="F96167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3rd-person present</a:t>
                      </a:r>
                      <a:endParaRPr lang="en-US" sz="1800" dirty="0">
                        <a:solidFill>
                          <a:srgbClr val="2F3C7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Morphology</a:t>
            </a:r>
            <a:endParaRPr lang="en-US" sz="36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“New word — sometimes a new meaning, sometimes a new class”</a:t>
            </a:r>
            <a:endParaRPr lang="en-US" sz="1600" i="1" dirty="0">
              <a:solidFill>
                <a:srgbClr val="F9E79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derivational morpheme is an affix added to a base word to </a:t>
            </a:r>
            <a:r>
              <a:rPr lang="en-US" sz="20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 word</a:t>
            </a:r>
            <a:r>
              <a:rPr lang="en-US" sz="2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with a </a:t>
            </a:r>
            <a:r>
              <a:rPr lang="en-US" sz="2000" dirty="0">
                <a:solidFill>
                  <a:srgbClr val="5B5F6B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meaning</a:t>
            </a:r>
            <a:r>
              <a:rPr lang="en-US" sz="2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and very often a new part of speech.</a:t>
            </a:r>
            <a:endParaRPr lang="en-US" sz="2000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</a:t>
            </a:r>
            <a:endParaRPr lang="en-US" sz="1400" b="1" dirty="0">
              <a:solidFill>
                <a:srgbClr val="2F3C7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 → unhappy</a:t>
            </a:r>
            <a:endParaRPr lang="en-US" sz="1600" b="1" dirty="0">
              <a:solidFill>
                <a:srgbClr val="F9616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adj</a:t>
            </a:r>
            <a:endParaRPr lang="en-US" sz="1400" i="1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42032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400" b="1" dirty="0">
              <a:solidFill>
                <a:srgbClr val="2F3C7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33472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 → actor</a:t>
            </a:r>
            <a:endParaRPr lang="en-US" sz="1600" b="1" dirty="0">
              <a:solidFill>
                <a:srgbClr val="F9616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3472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 → noun</a:t>
            </a:r>
            <a:endParaRPr lang="en-US" sz="1400" i="1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26864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400" b="1" dirty="0">
              <a:solidFill>
                <a:srgbClr val="2F3C7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18304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kind → kindness</a:t>
            </a:r>
            <a:endParaRPr lang="en-US" sz="1600" b="1" dirty="0">
              <a:solidFill>
                <a:srgbClr val="F9616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18304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noun</a:t>
            </a:r>
            <a:endParaRPr lang="en-US" sz="1400" i="1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11696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400" b="1" dirty="0">
              <a:solidFill>
                <a:srgbClr val="2F3C7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03136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→  modernize</a:t>
            </a:r>
            <a:endParaRPr lang="en-US" sz="1500" b="1" dirty="0">
              <a:solidFill>
                <a:srgbClr val="F9616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03136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verb</a:t>
            </a:r>
            <a:endParaRPr lang="en-US" sz="1400" i="1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>
              <a:solidFill>
                <a:srgbClr val="B9BCC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Word-Formation Processes</a:t>
            </a:r>
            <a:endParaRPr lang="en-US" sz="32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un- + happy → unhappy</a:t>
            </a:r>
            <a:endParaRPr lang="en-US" sz="1400" b="1" dirty="0">
              <a:solidFill>
                <a:srgbClr val="0E7C7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Attaches before the root</a:t>
            </a:r>
            <a:endParaRPr lang="en-US" sz="1400" i="1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42032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kind + -ness → kindness</a:t>
            </a:r>
            <a:endParaRPr lang="en-US" sz="1400" b="1" dirty="0">
              <a:solidFill>
                <a:srgbClr val="0E7C7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Attaches after the root</a:t>
            </a:r>
            <a:endParaRPr lang="en-US" sz="1400" i="1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Compounding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36592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note + book → notebook</a:t>
            </a:r>
            <a:endParaRPr lang="en-US" sz="1400" b="1" dirty="0">
              <a:solidFill>
                <a:srgbClr val="0E7C7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36592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two free morphemes</a:t>
            </a:r>
            <a:endParaRPr lang="en-US" sz="1400" i="1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>
              <a:solidFill>
                <a:srgbClr val="AEB4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Morphology — Examples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97280"/>
          <a:ext cx="822960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 Word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Derived Word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Change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happy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happiness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 (verb)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actor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verb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care (noun)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careful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noun → adjective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modern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modernize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verb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kind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kindness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happy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unhappy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adjective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Across the NLP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Retrieval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Stemming/lemmatization normalizes query and document terms so ‘running’ matches ‘run’.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Translation</a:t>
            </a:r>
            <a:endParaRPr lang="en-US" sz="1600" b="1" dirty="0">
              <a:solidFill>
                <a:srgbClr val="0E7C7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Target-language morphological generation must produce correct inflected forms (agreement, case).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 Tagging &amp; Parsing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Inflectional suffixes are strong features for identifying tense, number, and syntactic role.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Lexicon / WordNet Expansion</a:t>
            </a:r>
            <a:endParaRPr lang="en-US" sz="1400" b="1" dirty="0">
              <a:solidFill>
                <a:srgbClr val="0E7C7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Derivational rules link related lemmas (act – actor – action) to enrich lexical resources.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4612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Spell Checking &amp; Text Normalization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models validate whether an unseen form is a legal inflection of a known lemma.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Recognition (LM)</a:t>
            </a:r>
            <a:endParaRPr lang="en-US" sz="1600" b="1" dirty="0">
              <a:solidFill>
                <a:srgbClr val="0E7C7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for agglutinative languages often operate on morphemes, not whole words.</a:t>
            </a:r>
            <a:endParaRPr lang="en-US" sz="1200" dirty="0">
              <a:solidFill>
                <a:srgbClr val="515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FA7B80"/>
          </a:solidFill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A7B80"/>
          </a:solidFill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3799</Words>
  <Application>WPS Presentation</Application>
  <PresentationFormat>On-screen Show (16:9)</PresentationFormat>
  <Paragraphs>324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Times New Roman</vt:lpstr>
      <vt:lpstr>Times New Roman Bold</vt:lpstr>
      <vt:lpstr>Times New Roman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Dhanusha sree</cp:lastModifiedBy>
  <cp:revision>3</cp:revision>
  <dcterms:created xsi:type="dcterms:W3CDTF">2026-07-25T03:52:00Z</dcterms:created>
  <dcterms:modified xsi:type="dcterms:W3CDTF">2026-07-25T05:05:46Z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5AD7BDF1CA134053A21B77CBE8000F1D_13</vt:lpwstr>
  </property>
</Properties>
</file>