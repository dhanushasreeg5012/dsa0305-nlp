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9" r:id="rId3"/>
    <p:sldId id="257" r:id="rId4"/>
    <p:sldId id="277" r:id="rId6"/>
    <p:sldId id="258" r:id="rId7"/>
    <p:sldId id="259" r:id="rId8"/>
    <p:sldId id="272" r:id="rId9"/>
    <p:sldId id="260" r:id="rId10"/>
    <p:sldId id="261" r:id="rId11"/>
    <p:sldId id="274" r:id="rId12"/>
    <p:sldId id="262" r:id="rId13"/>
    <p:sldId id="27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8600" y="3178175"/>
            <a:ext cx="1066800" cy="182563"/>
          </a:xfrm>
        </p:spPr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562100" y="3178175"/>
            <a:ext cx="1447800" cy="182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276600" y="3178175"/>
            <a:ext cx="1066800" cy="182563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0761" y="1290040"/>
            <a:ext cx="7702478" cy="1465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5"/>
              </a:lnSpc>
              <a:spcBef>
                <a:spcPct val="0"/>
              </a:spcBef>
            </a:pPr>
            <a:r>
              <a:rPr lang="en-US" altLang="en-US" sz="2510" dirty="0">
                <a:solidFill>
                  <a:srgbClr val="005FC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Comparative Analysis of Inflectional and Derivational Morphology</a:t>
            </a:r>
            <a:endParaRPr lang="en-US" altLang="en-US" sz="2510" dirty="0">
              <a:solidFill>
                <a:srgbClr val="005FC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14323" y="3356699"/>
            <a:ext cx="2659738" cy="1344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5"/>
              </a:lnSpc>
            </a:pPr>
            <a:r>
              <a:rPr lang="en-US" sz="153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PRESENTED BY :</a:t>
            </a:r>
            <a:endParaRPr lang="en-US" sz="153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495"/>
              </a:lnSpc>
            </a:pPr>
            <a:r>
              <a:rPr lang="en-US" sz="153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G.DHANUSHA SREE</a:t>
            </a:r>
            <a:endParaRPr lang="en-US" sz="153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495"/>
              </a:lnSpc>
            </a:pPr>
            <a:r>
              <a:rPr lang="en-US" sz="153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(192325012)</a:t>
            </a:r>
            <a:endParaRPr lang="en-US" sz="153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36394" y="700371"/>
            <a:ext cx="6630651" cy="52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5"/>
              </a:lnSpc>
              <a:spcBef>
                <a:spcPct val="0"/>
              </a:spcBef>
            </a:pPr>
            <a:r>
              <a:rPr lang="en-US" sz="178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DSA0305 - NATURAL LANGUAGE PROCESSING</a:t>
            </a:r>
            <a:endParaRPr lang="en-US" sz="178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149253" y="3356699"/>
            <a:ext cx="2232747" cy="1344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5"/>
              </a:lnSpc>
            </a:pPr>
            <a:r>
              <a:rPr lang="en-US" sz="153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GUIDE BY</a:t>
            </a:r>
            <a:endParaRPr lang="en-US" sz="153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495"/>
              </a:lnSpc>
            </a:pPr>
            <a:r>
              <a:rPr lang="en-US" sz="153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DR.ANBAZHAGAN</a:t>
            </a:r>
            <a:endParaRPr lang="en-US" sz="153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ctr">
              <a:lnSpc>
                <a:spcPts val="3495"/>
              </a:lnSpc>
            </a:pPr>
            <a:r>
              <a:rPr lang="en-US" sz="1535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SIMATS Engineering </a:t>
            </a:r>
            <a:endParaRPr lang="en-US" sz="153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pic>
        <p:nvPicPr>
          <p:cNvPr id="7" name="Picture 6" descr="Saveetha School of Engineering: Courses, Admission 2025, Fees, Scholarship,  Placements, Ranki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19" y="54661"/>
            <a:ext cx="791982" cy="1042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Saveetha Institute of Medical and Technical Sciences -SIMATS | Chenna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7606" y="66634"/>
            <a:ext cx="845894" cy="845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Morphology?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" cy="54864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4" name="Text 2"/>
          <p:cNvSpPr/>
          <p:nvPr/>
        </p:nvSpPr>
        <p:spPr>
          <a:xfrm>
            <a:off x="548640" y="12344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18872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Morphology </a:t>
            </a:r>
            <a:r>
              <a:rPr lang="en-US" sz="15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the study of how words are built and how they change form.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470916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word is made of smaller pieces called </a:t>
            </a:r>
            <a:r>
              <a:rPr lang="en-US" sz="15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morphemes</a:t>
            </a:r>
            <a:r>
              <a:rPr lang="en-US" sz="15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the smallest units of meaning in a language.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017520" cy="2651760"/>
          </a:xfrm>
          <a:prstGeom prst="roundRect">
            <a:avLst>
              <a:gd name="adj" fmla="val 4138"/>
            </a:avLst>
          </a:prstGeom>
          <a:solidFill>
            <a:srgbClr val="FFF3EE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28016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Let's Break Down a Word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69164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</a:t>
            </a:r>
            <a:r>
              <a:rPr lang="en-US" sz="2600" b="1" dirty="0">
                <a:solidFill>
                  <a:srgbClr val="F9616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happi</a:t>
            </a:r>
            <a:r>
              <a:rPr lang="en-US" sz="26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ness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852160" y="219456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prefix  +  root  +  suffix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2606040"/>
            <a:ext cx="2560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root carries the core meaning. Prefixes and suffixes attach to it to build new words or forms.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C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Morphemes: The Computational Unit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4F7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Morphemes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 alone as words. Carry the core lexical meaning (the root/stem/base).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e.g.  cat,  play,  kind,  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 Morphemes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stand alone; must attach to a stem. Includes both inflectional and derivational affixes.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0690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572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e.g.  -s,  -ed,  -ness,  un-,  -ize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4983480" y="15087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Morphological Parse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9659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unhappiness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83480" y="24688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un- + happi + -ness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8803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A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PREFIX(deriv.) + ROOT + SUFFIX(deriv.)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83480" y="3337560"/>
            <a:ext cx="3246120" cy="0"/>
          </a:xfrm>
          <a:prstGeom prst="line">
            <a:avLst/>
          </a:prstGeom>
          <a:noFill/>
          <a:ln w="12700">
            <a:solidFill>
              <a:srgbClr val="3A46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4747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83480" y="38862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6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 + -s   →   ROOT + SUFFIX(infl.)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Branches of Morphology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affix we add to a word does one of two jobs: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2F3C7E"/>
          </a:solidFill>
        </p:spPr>
      </p:sp>
      <p:sp>
        <p:nvSpPr>
          <p:cNvPr id="5" name="Shape 3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F9E795"/>
          </a:solidFill>
        </p:spPr>
      </p:sp>
      <p:sp>
        <p:nvSpPr>
          <p:cNvPr id="6" name="Text 4"/>
          <p:cNvSpPr/>
          <p:nvPr/>
        </p:nvSpPr>
        <p:spPr>
          <a:xfrm>
            <a:off x="777240" y="1737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Inflectional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Changes a word's GRAMMAR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33756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Same word, same word class
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Shows tense, number, or degree
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Never creates a new word
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Example: cat → cats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96167"/>
          </a:solidFill>
        </p:spPr>
      </p:sp>
      <p:sp>
        <p:nvSpPr>
          <p:cNvPr id="11" name="Shape 9"/>
          <p:cNvSpPr/>
          <p:nvPr/>
        </p:nvSpPr>
        <p:spPr>
          <a:xfrm>
            <a:off x="5074920" y="1737360"/>
            <a:ext cx="594360" cy="594360"/>
          </a:xfrm>
          <a:prstGeom prst="ellipse">
            <a:avLst/>
          </a:prstGeom>
          <a:solidFill>
            <a:srgbClr val="F9E795"/>
          </a:solidFill>
        </p:spPr>
      </p:sp>
      <p:sp>
        <p:nvSpPr>
          <p:cNvPr id="12" name="Text 10"/>
          <p:cNvSpPr/>
          <p:nvPr/>
        </p:nvSpPr>
        <p:spPr>
          <a:xfrm>
            <a:off x="5074920" y="1737360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852160" y="17830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Derivational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852160" y="2194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a NEW WORD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2606040"/>
            <a:ext cx="3337560" cy="1874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A brand-new word appears
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Often changes the word class
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Meaning shifts, sometimes a lot
</a:t>
            </a: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 Example: kind → kindness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C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F3C7E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Inflectional Morphology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“Same word — different grammatical job”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inflectional morpheme is an affix added to a word to express a </a:t>
            </a:r>
            <a:r>
              <a:rPr lang="en-US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grammatical feature</a:t>
            </a:r>
            <a:r>
              <a:rPr lang="en-US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like tense, number, person, or degree of comparison — without changing the word's basic meaning or its part of speech.</a:t>
            </a:r>
            <a:endParaRPr lang="en-US" dirty="0">
              <a:solidFill>
                <a:srgbClr val="5B5F6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 → books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42032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301752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33472" y="352044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walk → walked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26864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301752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18304" y="352044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tall → taller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11696" y="2880360"/>
            <a:ext cx="1965960" cy="1417320"/>
          </a:xfrm>
          <a:prstGeom prst="roundRect">
            <a:avLst>
              <a:gd name="adj" fmla="val 6452"/>
            </a:avLst>
          </a:prstGeom>
          <a:solidFill>
            <a:srgbClr val="FFF3EE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301752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03136" y="3520440"/>
            <a:ext cx="17830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 → goes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C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Inflectional Paradigms Across Languages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3566160"/>
                <a:gridCol w="1737360"/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Language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Lemma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Inflected Forms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 Encoded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English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walk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walk, walks, walked, walking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tense / person / aspect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Spanish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hablar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hablo, hablas, habló, hablará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tense / person / number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Russian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книга (book)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книга, книги, книге, книгу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case / number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Turkish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 (house)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E7C7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evler, evde, evlerde, evimde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515A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case / number / possession (agglutinative)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Inflectional Morphology — Examples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097280"/>
          <a:ext cx="8229600" cy="35204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Base Word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Inflected Form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It Shows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cats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Plural number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walk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walked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Past tense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running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Progressive aspect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tall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taller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Comparative degree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big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biggest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Superlative degree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she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sings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3rd-person present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C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F96167"/>
          </a:solidFill>
        </p:spPr>
      </p:sp>
      <p:sp>
        <p:nvSpPr>
          <p:cNvPr id="3" name="Text 1"/>
          <p:cNvSpPr/>
          <p:nvPr/>
        </p:nvSpPr>
        <p:spPr>
          <a:xfrm>
            <a:off x="457200" y="4114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Derivational Morphology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7955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9E79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“New word — sometimes a new meaning, sometimes a new class”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derivational morpheme is an affix added to a base word to </a:t>
            </a:r>
            <a:r>
              <a:rPr lang="en-US" sz="15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new word</a:t>
            </a:r>
            <a:r>
              <a:rPr lang="en-US" sz="1500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with a new meaning — and very often a new part of speech.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F1F3FA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1635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Prefix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happy → unhappy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 → adj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269748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F1F3FA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281635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Suffix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33472" y="31546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 → actor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33472" y="36576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verb → noun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26864" y="269748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F1F3FA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281635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Suffix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18304" y="31546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kind → kindness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18304" y="36576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 → noun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11696" y="2697480"/>
            <a:ext cx="1965960" cy="1600200"/>
          </a:xfrm>
          <a:prstGeom prst="roundRect">
            <a:avLst>
              <a:gd name="adj" fmla="val 5714"/>
            </a:avLst>
          </a:prstGeom>
          <a:solidFill>
            <a:srgbClr val="F1F3FA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281635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3C7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Suffix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03136" y="315468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→ modernize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03136" y="365760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5F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 → verb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C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Derivational Word-Formation Processes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4F7F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72768"/>
            <a:ext cx="17922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Prefixation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2331720"/>
            <a:ext cx="179222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un- + happy → unhappy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3063240"/>
            <a:ext cx="179222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Attaches before the root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42032" y="14173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4F7F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572768"/>
            <a:ext cx="17922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Suffixation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51760" y="2331720"/>
            <a:ext cx="179222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kind + -ness → kindness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51760" y="3063240"/>
            <a:ext cx="179222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Attaches after the root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26864" y="14173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4F7F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572768"/>
            <a:ext cx="17922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36592" y="2331720"/>
            <a:ext cx="179222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note + book → notebook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36592" y="3063240"/>
            <a:ext cx="179222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two free morphemes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11696" y="141732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F4F7F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21424" y="1572768"/>
            <a:ext cx="1792224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Conversion (zero-derivation)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21424" y="2331720"/>
            <a:ext cx="179222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google (n.) → to google (v.)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21424" y="3063240"/>
            <a:ext cx="1792224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affix; category changes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F3C7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Derivational Morphology — Examples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457200" y="1097280"/>
          <a:ext cx="8229600" cy="35204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Base Word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Derived Word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 Change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happy (adj)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happiness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adjective → noun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 (verb)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actor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verb → noun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care (noun)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careful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noun → adjective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modern (adj)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modernize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adjective → verb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kind (adj)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kindness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adjective → noun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5B5F6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happy (adj)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F3C7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unhappy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9616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adjective → adjective</a:t>
                      </a:r>
                      <a:endParaRPr lang="en-US" sz="13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D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9BC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Applications Across the NLP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8132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Information Retrieval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93852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Stemming/lemmatization normalizes query and document terms so ‘running’ matches ‘run’.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AF6F5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48132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Translation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93852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Target-language morphological generation must produce correct inflected forms (agreement, case).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48132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 Tagging &amp; Parsing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193852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Inflectional suffixes are strong features for identifying tense, number, and syntactic role.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AF6F5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17296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Lexicon / WordNet Expansion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63016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Derivational rules link related lemmas (act – actor – action) to enrich lexical resources.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30632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7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17296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Spell Checking &amp; Text Normalization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63016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Morphological models validate whether an unseen form is a legal inflection of a known lemma.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0632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EAF6F5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17296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Speech Recognition (LM)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3630168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15A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models for agglutinative languages often operate on morphemes, not whole words.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0" y="4892040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61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FA7B80"/>
          </a:solidFill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FA7B80"/>
          </a:solidFill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6060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3897</Words>
  <Application>WPS Presentation</Application>
  <PresentationFormat>On-screen Show (16:9)</PresentationFormat>
  <Paragraphs>330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Times New Roman</vt:lpstr>
      <vt:lpstr>Times New Roman Bold</vt:lpstr>
      <vt:lpstr>Times New Roman</vt:lpstr>
      <vt:lpstr>Courier New</vt:lpstr>
      <vt:lpstr>Courier New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Dhanusha sree</cp:lastModifiedBy>
  <cp:revision>2</cp:revision>
  <dcterms:created xsi:type="dcterms:W3CDTF">2026-07-25T03:52:00Z</dcterms:created>
  <dcterms:modified xsi:type="dcterms:W3CDTF">2026-07-25T04:23:24Z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1E127C90C37D4C7BBF60D1440974E6D9_13</vt:lpwstr>
  </property>
</Properties>
</file>